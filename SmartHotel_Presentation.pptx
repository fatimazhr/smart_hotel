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ACC15"/>
          </a:solidFill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A5CA8">
              <a:alpha val="40000"/>
            </a:srgbClr>
          </a:solidFill>
          <a:ln w="12700">
            <a:solidFill>
              <a:srgbClr val="0A5CA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🏨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Hotel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ACC1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Hébergement &amp; Hôtellerie Intelligente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3657600" cy="36576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9" name="Text 7"/>
          <p:cNvSpPr/>
          <p:nvPr/>
        </p:nvSpPr>
        <p:spPr>
          <a:xfrm>
            <a:off x="365760" y="310896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Culture Entrepreneuriale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Écosystème Souss-Massa · Agadir, Maroc 🇲🇦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0830" y="4114800"/>
            <a:ext cx="2362835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818CF8"/>
            </a:solidFill>
            <a:prstDash val="solid"/>
          </a:ln>
        </p:spPr>
        <p:txBody>
          <a:bodyPr/>
          <a:p>
            <a:r>
              <a:rPr lang="en-US" altLang="fr-CA">
                <a:solidFill>
                  <a:schemeClr val="bg1"/>
                </a:solidFill>
              </a:rPr>
              <a:t>Fatima Zahra Bourhim</a:t>
            </a:r>
            <a:endParaRPr lang="en-US" altLang="fr-CA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31490" y="4114800"/>
            <a:ext cx="2741295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/>
          <a:p>
            <a:r>
              <a:rPr lang="en-US" altLang="fr-CA">
                <a:solidFill>
                  <a:schemeClr val="bg1"/>
                </a:solidFill>
              </a:rPr>
              <a:t>Fatima Zahra Bouharroud</a:t>
            </a:r>
            <a:endParaRPr lang="en-US" altLang="fr-CA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51760" y="4114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altLang="fr-CA" sz="1200" dirty="0"/>
          </a:p>
        </p:txBody>
      </p:sp>
      <p:sp>
        <p:nvSpPr>
          <p:cNvPr id="14" name="Shape 12"/>
          <p:cNvSpPr/>
          <p:nvPr/>
        </p:nvSpPr>
        <p:spPr>
          <a:xfrm>
            <a:off x="6324600" y="41148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ACC15"/>
            </a:solidFill>
            <a:prstDash val="solid"/>
          </a:ln>
        </p:spPr>
        <p:txBody>
          <a:bodyPr/>
          <a:p>
            <a:r>
              <a:rPr lang="en-US" altLang="fr-CA">
                <a:solidFill>
                  <a:schemeClr val="bg1"/>
                </a:solidFill>
              </a:rPr>
              <a:t>Ziad Lachguer</a:t>
            </a:r>
            <a:endParaRPr lang="en-US" altLang="fr-CA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37760" y="4114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73F72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🌍  Contexte — Écosystème Souss-Massa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1051560"/>
          </a:xfrm>
          <a:prstGeom prst="rect">
            <a:avLst/>
          </a:prstGeom>
          <a:solidFill>
            <a:srgbClr val="FACC15"/>
          </a:solidFill>
        </p:spPr>
      </p:sp>
      <p:sp>
        <p:nvSpPr>
          <p:cNvPr id="6" name="Text 4"/>
          <p:cNvSpPr/>
          <p:nvPr/>
        </p:nvSpPr>
        <p:spPr>
          <a:xfrm>
            <a:off x="411480" y="96012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9601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2ème Pôle Économique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du Maroc après Casablanca-Settat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48840"/>
            <a:ext cx="73152" cy="1051560"/>
          </a:xfrm>
          <a:prstGeom prst="rect">
            <a:avLst/>
          </a:prstGeom>
          <a:solidFill>
            <a:srgbClr val="FACC15"/>
          </a:solidFill>
        </p:spPr>
      </p:sp>
      <p:sp>
        <p:nvSpPr>
          <p:cNvPr id="11" name="Text 9"/>
          <p:cNvSpPr/>
          <p:nvPr/>
        </p:nvSpPr>
        <p:spPr>
          <a:xfrm>
            <a:off x="411480" y="21945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Secteur TravelTech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Tourisme durable &amp; digitalisation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8328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383280"/>
            <a:ext cx="73152" cy="1051560"/>
          </a:xfrm>
          <a:prstGeom prst="rect">
            <a:avLst/>
          </a:prstGeom>
          <a:solidFill>
            <a:srgbClr val="FACC15"/>
          </a:solidFill>
        </p:spPr>
      </p:sp>
      <p:sp>
        <p:nvSpPr>
          <p:cNvPr id="16" name="Text 14"/>
          <p:cNvSpPr/>
          <p:nvPr/>
        </p:nvSpPr>
        <p:spPr>
          <a:xfrm>
            <a:off x="411480" y="34290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4290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Cluster Tourisme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7490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Infrastructure dédiée à l'innovation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4206240" cy="3657600"/>
          </a:xfrm>
          <a:prstGeom prst="rect">
            <a:avLst/>
          </a:prstGeom>
          <a:solidFill>
            <a:srgbClr val="073F72"/>
          </a:solidFill>
          <a:ln w="12700">
            <a:solidFill>
              <a:srgbClr val="073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CC15"/>
                </a:solidFill>
              </a:rPr>
              <a:t>🎯 Problème Identifié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00600" y="1554480"/>
            <a:ext cx="201168" cy="201168"/>
          </a:xfrm>
          <a:prstGeom prst="ellipse">
            <a:avLst/>
          </a:prstGeom>
          <a:solidFill>
            <a:srgbClr val="FACC15"/>
          </a:solidFill>
        </p:spPr>
      </p:sp>
      <p:sp>
        <p:nvSpPr>
          <p:cNvPr id="22" name="Text 20"/>
          <p:cNvSpPr/>
          <p:nvPr/>
        </p:nvSpPr>
        <p:spPr>
          <a:xfrm>
            <a:off x="5074920" y="1508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Gestion hôtelière encore manuelle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2212848"/>
            <a:ext cx="201168" cy="201168"/>
          </a:xfrm>
          <a:prstGeom prst="ellipse">
            <a:avLst/>
          </a:prstGeom>
          <a:solidFill>
            <a:srgbClr val="FACC15"/>
          </a:solidFill>
        </p:spPr>
      </p:sp>
      <p:sp>
        <p:nvSpPr>
          <p:cNvPr id="24" name="Text 22"/>
          <p:cNvSpPr/>
          <p:nvPr/>
        </p:nvSpPr>
        <p:spPr>
          <a:xfrm>
            <a:off x="5074920" y="21671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Pas de contrôle intelligent des chambres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871216"/>
            <a:ext cx="201168" cy="201168"/>
          </a:xfrm>
          <a:prstGeom prst="ellipse">
            <a:avLst/>
          </a:prstGeom>
          <a:solidFill>
            <a:srgbClr val="FACC15"/>
          </a:solidFill>
        </p:spPr>
      </p:sp>
      <p:sp>
        <p:nvSpPr>
          <p:cNvPr id="26" name="Text 24"/>
          <p:cNvSpPr/>
          <p:nvPr/>
        </p:nvSpPr>
        <p:spPr>
          <a:xfrm>
            <a:off x="5074920" y="282549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Expérience client non personnalisée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3529584"/>
            <a:ext cx="201168" cy="201168"/>
          </a:xfrm>
          <a:prstGeom prst="ellipse">
            <a:avLst/>
          </a:prstGeom>
          <a:solidFill>
            <a:srgbClr val="FACC15"/>
          </a:solidFill>
        </p:spPr>
      </p:sp>
      <p:sp>
        <p:nvSpPr>
          <p:cNvPr id="28" name="Text 26"/>
          <p:cNvSpPr/>
          <p:nvPr/>
        </p:nvSpPr>
        <p:spPr>
          <a:xfrm>
            <a:off x="5074920" y="348386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Manque d'outils d'analyse de données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4160520"/>
            <a:ext cx="4206240" cy="411480"/>
          </a:xfrm>
          <a:prstGeom prst="rect">
            <a:avLst/>
          </a:prstGeom>
          <a:solidFill>
            <a:srgbClr val="FACC15"/>
          </a:solidFill>
        </p:spPr>
      </p:sp>
      <p:sp>
        <p:nvSpPr>
          <p:cNvPr id="30" name="Text 28"/>
          <p:cNvSpPr/>
          <p:nvPr/>
        </p:nvSpPr>
        <p:spPr>
          <a:xfrm>
            <a:off x="4663440" y="416052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3F72"/>
                </a:solidFill>
              </a:rPr>
              <a:t>→ Notre solution : Smart Hotel System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73F72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💡  Notre Solution — Smart Hotel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073F72"/>
          </a:solidFill>
        </p:spPr>
      </p:sp>
      <p:sp>
        <p:nvSpPr>
          <p:cNvPr id="6" name="Shape 4"/>
          <p:cNvSpPr/>
          <p:nvPr/>
        </p:nvSpPr>
        <p:spPr>
          <a:xfrm>
            <a:off x="457200" y="1188720"/>
            <a:ext cx="594360" cy="5943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🛏️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1887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PMS Complet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5544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Réservations, Check-in/out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16916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743200" cy="73152"/>
          </a:xfrm>
          <a:prstGeom prst="rect">
            <a:avLst/>
          </a:prstGeom>
          <a:solidFill>
            <a:srgbClr val="073F72"/>
          </a:solidFill>
        </p:spPr>
      </p:sp>
      <p:sp>
        <p:nvSpPr>
          <p:cNvPr id="12" name="Shape 10"/>
          <p:cNvSpPr/>
          <p:nvPr/>
        </p:nvSpPr>
        <p:spPr>
          <a:xfrm>
            <a:off x="3383280" y="1188720"/>
            <a:ext cx="594360" cy="5943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170432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0" y="11887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Clé Mobile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15544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Accès chambre sans contact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16916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2743200" cy="73152"/>
          </a:xfrm>
          <a:prstGeom prst="rect">
            <a:avLst/>
          </a:prstGeom>
          <a:solidFill>
            <a:srgbClr val="073F72"/>
          </a:solidFill>
        </p:spPr>
      </p:sp>
      <p:sp>
        <p:nvSpPr>
          <p:cNvPr id="18" name="Shape 16"/>
          <p:cNvSpPr/>
          <p:nvPr/>
        </p:nvSpPr>
        <p:spPr>
          <a:xfrm>
            <a:off x="6309360" y="1188720"/>
            <a:ext cx="594360" cy="5943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170432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40880" y="11887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IoT Control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15544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Domotique intelligente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26080"/>
            <a:ext cx="2743200" cy="73152"/>
          </a:xfrm>
          <a:prstGeom prst="rect">
            <a:avLst/>
          </a:prstGeom>
          <a:solidFill>
            <a:srgbClr val="073F72"/>
          </a:solidFill>
        </p:spPr>
      </p:sp>
      <p:sp>
        <p:nvSpPr>
          <p:cNvPr id="24" name="Shape 22"/>
          <p:cNvSpPr/>
          <p:nvPr/>
        </p:nvSpPr>
        <p:spPr>
          <a:xfrm>
            <a:off x="457200" y="3108960"/>
            <a:ext cx="594360" cy="5943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90672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88720" y="31089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4747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KPIs &amp; Revenue Manager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2743200" cy="16916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926080"/>
            <a:ext cx="2743200" cy="73152"/>
          </a:xfrm>
          <a:prstGeom prst="rect">
            <a:avLst/>
          </a:prstGeom>
          <a:solidFill>
            <a:srgbClr val="073F72"/>
          </a:solidFill>
        </p:spPr>
      </p:sp>
      <p:sp>
        <p:nvSpPr>
          <p:cNvPr id="30" name="Shape 28"/>
          <p:cNvSpPr/>
          <p:nvPr/>
        </p:nvSpPr>
        <p:spPr>
          <a:xfrm>
            <a:off x="3383280" y="3108960"/>
            <a:ext cx="594360" cy="5943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090672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114800" y="31089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Profil Guest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0" y="34747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Historique &amp; personnalisation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2926080"/>
            <a:ext cx="2743200" cy="16916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926080"/>
            <a:ext cx="2743200" cy="73152"/>
          </a:xfrm>
          <a:prstGeom prst="rect">
            <a:avLst/>
          </a:prstGeom>
          <a:solidFill>
            <a:srgbClr val="073F72"/>
          </a:solidFill>
        </p:spPr>
      </p:sp>
      <p:sp>
        <p:nvSpPr>
          <p:cNvPr id="36" name="Shape 34"/>
          <p:cNvSpPr/>
          <p:nvPr/>
        </p:nvSpPr>
        <p:spPr>
          <a:xfrm>
            <a:off x="6309360" y="3108960"/>
            <a:ext cx="594360" cy="5943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090672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040880" y="31089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Sécurité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40880" y="34747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Session &amp; rôles d'accès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73F72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🏗️  Architecture Technique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822960"/>
            <a:ext cx="640080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63040" y="841248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🖥️  CLIENT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18872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Thymeleaf · Bootstrap 5 · JavaScript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34840" y="1572768"/>
            <a:ext cx="274320" cy="201168"/>
          </a:xfrm>
          <a:prstGeom prst="rect">
            <a:avLst/>
          </a:prstGeom>
          <a:solidFill>
            <a:srgbClr val="FACC15"/>
          </a:solidFill>
        </p:spPr>
      </p:sp>
      <p:sp>
        <p:nvSpPr>
          <p:cNvPr id="8" name="Text 6"/>
          <p:cNvSpPr/>
          <p:nvPr/>
        </p:nvSpPr>
        <p:spPr>
          <a:xfrm>
            <a:off x="4389120" y="1554480"/>
            <a:ext cx="365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3F72"/>
                </a:solidFill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1783080"/>
            <a:ext cx="6400800" cy="749808"/>
          </a:xfrm>
          <a:prstGeom prst="rect">
            <a:avLst/>
          </a:prstGeom>
          <a:solidFill>
            <a:srgbClr val="073F72"/>
          </a:solidFill>
          <a:ln w="12700">
            <a:solidFill>
              <a:srgbClr val="073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3040" y="1801368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API GATEWAY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1488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Spring Boot · REST Controllers · Session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2532888"/>
            <a:ext cx="274320" cy="201168"/>
          </a:xfrm>
          <a:prstGeom prst="rect">
            <a:avLst/>
          </a:prstGeom>
          <a:solidFill>
            <a:srgbClr val="FACC15"/>
          </a:solidFill>
        </p:spPr>
      </p:sp>
      <p:sp>
        <p:nvSpPr>
          <p:cNvPr id="13" name="Text 11"/>
          <p:cNvSpPr/>
          <p:nvPr/>
        </p:nvSpPr>
        <p:spPr>
          <a:xfrm>
            <a:off x="4389120" y="2514600"/>
            <a:ext cx="365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3F72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2743200"/>
            <a:ext cx="64008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63040" y="2761488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SERVICE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10896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Business Logic · JPA Services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3493008"/>
            <a:ext cx="274320" cy="201168"/>
          </a:xfrm>
          <a:prstGeom prst="rect">
            <a:avLst/>
          </a:prstGeom>
          <a:solidFill>
            <a:srgbClr val="FACC15"/>
          </a:solidFill>
        </p:spPr>
      </p:sp>
      <p:sp>
        <p:nvSpPr>
          <p:cNvPr id="18" name="Text 16"/>
          <p:cNvSpPr/>
          <p:nvPr/>
        </p:nvSpPr>
        <p:spPr>
          <a:xfrm>
            <a:off x="4389120" y="3474720"/>
            <a:ext cx="365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3F72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3703320"/>
            <a:ext cx="640080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63040" y="3721608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🗄️  DATABASE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06908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MySQL 8 · Spring Data JPA · Hibernate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55280" y="822960"/>
            <a:ext cx="1005840" cy="3931920"/>
          </a:xfrm>
          <a:prstGeom prst="rect">
            <a:avLst/>
          </a:prstGeom>
          <a:solidFill>
            <a:srgbClr val="073F72"/>
          </a:solidFill>
          <a:ln w="12700">
            <a:solidFill>
              <a:srgbClr val="073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914400"/>
            <a:ext cx="1005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CC15"/>
                </a:solidFill>
              </a:rPr>
              <a:t>TECH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ACC15"/>
                </a:solidFill>
              </a:rPr>
              <a:t>STACK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55280" y="1737360"/>
            <a:ext cx="1005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Java 17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55280" y="2240280"/>
            <a:ext cx="1005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Spring Boot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2743200"/>
            <a:ext cx="1005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MySQL 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55280" y="3246120"/>
            <a:ext cx="1005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Maven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3749040"/>
            <a:ext cx="1005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Bootstrap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73F72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🗄️  Schéma Base de Données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2743200" cy="41148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274320" y="9144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users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🔑 id PK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618488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fullName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86537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email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11226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role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235915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passwordHash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72968" y="91440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914400"/>
            <a:ext cx="2743200" cy="41148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4" name="Text 12"/>
          <p:cNvSpPr/>
          <p:nvPr/>
        </p:nvSpPr>
        <p:spPr>
          <a:xfrm>
            <a:off x="3264408" y="9144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rooms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137160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🔑 id PK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64408" y="1618488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roomNumber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64408" y="186537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type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64408" y="211226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status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235915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basePrice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64408" y="260604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rating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63056" y="91440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914400"/>
            <a:ext cx="2743200" cy="41148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3" name="Text 21"/>
          <p:cNvSpPr/>
          <p:nvPr/>
        </p:nvSpPr>
        <p:spPr>
          <a:xfrm>
            <a:off x="6254496" y="9144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reservations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54496" y="137160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🔑 id PK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54496" y="1618488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🔗 guest_id FK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54496" y="186537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🔗 room_id FK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54496" y="211226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checkIn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54496" y="235915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checkOut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54496" y="260604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totalPrice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" y="2944368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2944368"/>
            <a:ext cx="2743200" cy="4114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2" name="Text 30"/>
          <p:cNvSpPr/>
          <p:nvPr/>
        </p:nvSpPr>
        <p:spPr>
          <a:xfrm>
            <a:off x="274320" y="29443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iot_devices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" y="3401568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🔑 id PK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64845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🔗 room_id FK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389534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deviceType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14223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status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3891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lastCommand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172968" y="2944368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72968" y="2944368"/>
            <a:ext cx="2743200" cy="4114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0" name="Text 38"/>
          <p:cNvSpPr/>
          <p:nvPr/>
        </p:nvSpPr>
        <p:spPr>
          <a:xfrm>
            <a:off x="3264408" y="29443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mobile_keys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264408" y="3401568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🔑 id PK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64408" y="364845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🔗 reservation_id FK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64408" y="389534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token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64408" y="414223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isActive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64408" y="43891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expiresAt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63056" y="2944368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63056" y="2944368"/>
            <a:ext cx="2743200" cy="4114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8" name="Text 46"/>
          <p:cNvSpPr/>
          <p:nvPr/>
        </p:nvSpPr>
        <p:spPr>
          <a:xfrm>
            <a:off x="6254496" y="29443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sensor_data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54496" y="3401568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🔑 id PK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54496" y="364845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🔗 room_id FK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54496" y="389534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sensorType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54496" y="414223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value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54496" y="43891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 recordedAt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73F72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👤  Parcours Guest — De la Réservation au Check-out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3258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1325880" cy="73152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Shape 4"/>
          <p:cNvSpPr/>
          <p:nvPr/>
        </p:nvSpPr>
        <p:spPr>
          <a:xfrm>
            <a:off x="548640" y="960120"/>
            <a:ext cx="594360" cy="59436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7" name="Text 5"/>
          <p:cNvSpPr/>
          <p:nvPr/>
        </p:nvSpPr>
        <p:spPr>
          <a:xfrm>
            <a:off x="548640" y="9601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" y="1645920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233172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</a:rPr>
              <a:t>Register / Login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788920"/>
            <a:ext cx="1234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Création de compte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ou connexion sécurisée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1965960"/>
            <a:ext cx="137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CC15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45920" y="914400"/>
            <a:ext cx="13258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45920" y="914400"/>
            <a:ext cx="1325880" cy="7315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4" name="Shape 12"/>
          <p:cNvSpPr/>
          <p:nvPr/>
        </p:nvSpPr>
        <p:spPr>
          <a:xfrm>
            <a:off x="2011680" y="960120"/>
            <a:ext cx="594360" cy="59436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5" name="Text 13"/>
          <p:cNvSpPr/>
          <p:nvPr/>
        </p:nvSpPr>
        <p:spPr>
          <a:xfrm>
            <a:off x="2011680" y="9601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1645920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🛏️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91640" y="233172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</a:rPr>
              <a:t>Browse Rooms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2788920"/>
            <a:ext cx="1234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Filtrer par type,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prix et rating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71800" y="1965960"/>
            <a:ext cx="137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CC15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108960" y="914400"/>
            <a:ext cx="13258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08960" y="914400"/>
            <a:ext cx="1325880" cy="7315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2" name="Shape 20"/>
          <p:cNvSpPr/>
          <p:nvPr/>
        </p:nvSpPr>
        <p:spPr>
          <a:xfrm>
            <a:off x="3474720" y="960120"/>
            <a:ext cx="594360" cy="59436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23" name="Text 21"/>
          <p:cNvSpPr/>
          <p:nvPr/>
        </p:nvSpPr>
        <p:spPr>
          <a:xfrm>
            <a:off x="3474720" y="9601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108960" y="1645920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154680" y="233172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</a:rPr>
              <a:t>Book a Room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2788920"/>
            <a:ext cx="1234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Sélection des dates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&amp; calcul du prix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34840" y="1965960"/>
            <a:ext cx="137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CC15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0" y="914400"/>
            <a:ext cx="13258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914400"/>
            <a:ext cx="1325880" cy="73152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0" name="Shape 28"/>
          <p:cNvSpPr/>
          <p:nvPr/>
        </p:nvSpPr>
        <p:spPr>
          <a:xfrm>
            <a:off x="4937760" y="960120"/>
            <a:ext cx="594360" cy="59436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31" name="Text 29"/>
          <p:cNvSpPr/>
          <p:nvPr/>
        </p:nvSpPr>
        <p:spPr>
          <a:xfrm>
            <a:off x="4937760" y="9601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72000" y="1645920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617720" y="233172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</a:rPr>
              <a:t>Check-in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17720" y="2788920"/>
            <a:ext cx="1234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Confirmation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de l'arrivée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97880" y="1965960"/>
            <a:ext cx="137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CC15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035040" y="914400"/>
            <a:ext cx="13258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914400"/>
            <a:ext cx="1325880" cy="73152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8" name="Shape 36"/>
          <p:cNvSpPr/>
          <p:nvPr/>
        </p:nvSpPr>
        <p:spPr>
          <a:xfrm>
            <a:off x="6400800" y="960120"/>
            <a:ext cx="594360" cy="59436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39" name="Text 37"/>
          <p:cNvSpPr/>
          <p:nvPr/>
        </p:nvSpPr>
        <p:spPr>
          <a:xfrm>
            <a:off x="6400800" y="9601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035040" y="1645920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🌡️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080760" y="233172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</a:rPr>
              <a:t>IoT Control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80760" y="2788920"/>
            <a:ext cx="1234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Contrôle intelligent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de la chambre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60920" y="1965960"/>
            <a:ext cx="137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CC15"/>
                </a:solidFill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498080" y="914400"/>
            <a:ext cx="13258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98080" y="914400"/>
            <a:ext cx="1325880" cy="7315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46" name="Shape 44"/>
          <p:cNvSpPr/>
          <p:nvPr/>
        </p:nvSpPr>
        <p:spPr>
          <a:xfrm>
            <a:off x="7863840" y="960120"/>
            <a:ext cx="594360" cy="594360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47" name="Text 45"/>
          <p:cNvSpPr/>
          <p:nvPr/>
        </p:nvSpPr>
        <p:spPr>
          <a:xfrm>
            <a:off x="7863840" y="9601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498080" y="1645920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🚪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7543800" y="233172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</a:rPr>
              <a:t>Check-out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543800" y="2788920"/>
            <a:ext cx="1234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Fin du séjour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&amp; historique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5CA8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⚙️  Smart Room Control — IoT Devices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169164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6" name="Text 4"/>
          <p:cNvSpPr/>
          <p:nvPr/>
        </p:nvSpPr>
        <p:spPr>
          <a:xfrm>
            <a:off x="457200" y="109728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Door Lock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</a:rPr>
              <a:t>LOCK / UNLOCK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1097280" cy="34747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11680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● Online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74320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ACC1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14400"/>
            <a:ext cx="73152" cy="1691640"/>
          </a:xfrm>
          <a:prstGeom prst="rect">
            <a:avLst/>
          </a:prstGeom>
          <a:solidFill>
            <a:srgbClr val="FACC15"/>
          </a:solidFill>
        </p:spPr>
      </p:sp>
      <p:sp>
        <p:nvSpPr>
          <p:cNvPr id="13" name="Text 11"/>
          <p:cNvSpPr/>
          <p:nvPr/>
        </p:nvSpPr>
        <p:spPr>
          <a:xfrm>
            <a:off x="3383280" y="109728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114800" y="10972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Lights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15087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CC15"/>
                </a:solidFill>
              </a:rPr>
              <a:t>ON / OFF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011680"/>
            <a:ext cx="1097280" cy="347472"/>
          </a:xfrm>
          <a:prstGeom prst="rect">
            <a:avLst/>
          </a:prstGeom>
          <a:solidFill>
            <a:srgbClr val="FACC15">
              <a:alpha val="8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011680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● Online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74320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914400"/>
            <a:ext cx="73152" cy="169164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20" name="Text 18"/>
          <p:cNvSpPr/>
          <p:nvPr/>
        </p:nvSpPr>
        <p:spPr>
          <a:xfrm>
            <a:off x="6309360" y="109728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❄️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040880" y="10972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Air Conditioning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15087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</a:rPr>
              <a:t>ON / OFF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2011680"/>
            <a:ext cx="1097280" cy="34747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011680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● Online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274320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834640"/>
            <a:ext cx="73152" cy="169164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27" name="Text 25"/>
          <p:cNvSpPr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🌡️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188720" y="3017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Thermostat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3429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</a:rPr>
              <a:t>SET TEMP (°C)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931920"/>
            <a:ext cx="1097280" cy="347472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931920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● Online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2834640"/>
            <a:ext cx="274320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818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2834640"/>
            <a:ext cx="73152" cy="1691640"/>
          </a:xfrm>
          <a:prstGeom prst="rect">
            <a:avLst/>
          </a:prstGeom>
          <a:solidFill>
            <a:srgbClr val="818CF8"/>
          </a:solidFill>
        </p:spPr>
      </p:sp>
      <p:sp>
        <p:nvSpPr>
          <p:cNvPr id="34" name="Text 32"/>
          <p:cNvSpPr/>
          <p:nvPr/>
        </p:nvSpPr>
        <p:spPr>
          <a:xfrm>
            <a:off x="3383280" y="30175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📺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4114800" y="3017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TV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0" y="3429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18CF8"/>
                </a:solidFill>
              </a:rPr>
              <a:t>ON / OFF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37560" y="3931920"/>
            <a:ext cx="1097280" cy="347472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3931920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● Online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2834640"/>
            <a:ext cx="274320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834640"/>
            <a:ext cx="73152" cy="169164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41" name="Text 39"/>
          <p:cNvSpPr/>
          <p:nvPr/>
        </p:nvSpPr>
        <p:spPr>
          <a:xfrm>
            <a:off x="6309360" y="30175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🪟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7040880" y="3017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Curtains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40880" y="3429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</a:rPr>
              <a:t>OPEN / CLOSE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3931920"/>
            <a:ext cx="1097280" cy="347472"/>
          </a:xfrm>
          <a:prstGeom prst="rect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3931920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● Online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73F72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📊  Manager Dashboard — KPIs &amp; Analytics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92024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Shape 4"/>
          <p:cNvSpPr/>
          <p:nvPr/>
        </p:nvSpPr>
        <p:spPr>
          <a:xfrm>
            <a:off x="365760" y="96012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4183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🛏️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96012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</a:rPr>
              <a:t>12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Total Rooms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86868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868680"/>
            <a:ext cx="1920240" cy="54864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2" name="Shape 10"/>
          <p:cNvSpPr/>
          <p:nvPr/>
        </p:nvSpPr>
        <p:spPr>
          <a:xfrm>
            <a:off x="2542032" y="960120"/>
            <a:ext cx="502920" cy="502920"/>
          </a:xfrm>
          <a:prstGeom prst="ellipse">
            <a:avLst/>
          </a:prstGeom>
          <a:solidFill>
            <a:srgbClr val="059669">
              <a:alpha val="85000"/>
            </a:srgbClr>
          </a:solidFill>
          <a:ln w="12700">
            <a:solidFill>
              <a:srgbClr val="059669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94183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90672" y="96012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</a:rPr>
              <a:t>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90672" y="14173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Available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86868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868680"/>
            <a:ext cx="192024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8" name="Shape 16"/>
          <p:cNvSpPr/>
          <p:nvPr/>
        </p:nvSpPr>
        <p:spPr>
          <a:xfrm>
            <a:off x="4718304" y="960120"/>
            <a:ext cx="502920" cy="50292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94183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66944" y="96012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</a:rPr>
              <a:t>24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66944" y="14173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Reservations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03136" y="86868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868680"/>
            <a:ext cx="1920240" cy="54864"/>
          </a:xfrm>
          <a:prstGeom prst="rect">
            <a:avLst/>
          </a:prstGeom>
          <a:solidFill>
            <a:srgbClr val="FACC15"/>
          </a:solidFill>
        </p:spPr>
      </p:sp>
      <p:sp>
        <p:nvSpPr>
          <p:cNvPr id="24" name="Shape 22"/>
          <p:cNvSpPr/>
          <p:nvPr/>
        </p:nvSpPr>
        <p:spPr>
          <a:xfrm>
            <a:off x="6894576" y="960120"/>
            <a:ext cx="502920" cy="502920"/>
          </a:xfrm>
          <a:prstGeom prst="ellipse">
            <a:avLst/>
          </a:prstGeom>
          <a:solidFill>
            <a:srgbClr val="FACC15">
              <a:alpha val="85000"/>
            </a:srgbClr>
          </a:solidFill>
          <a:ln w="12700">
            <a:solidFill>
              <a:srgbClr val="FACC15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94183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43216" y="96012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CC15"/>
                </a:solidFill>
              </a:rPr>
              <a:t>36K MAD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43216" y="14173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Revenue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240280"/>
            <a:ext cx="8595360" cy="685800"/>
          </a:xfrm>
          <a:prstGeom prst="rect">
            <a:avLst/>
          </a:prstGeom>
          <a:solidFill>
            <a:srgbClr val="073F7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2240280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💰  Total Revenue : 36,000 MAD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0" y="224028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ACC15"/>
                </a:solidFill>
              </a:rPr>
              <a:t>Occupancy Rate : 67%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74320" y="3063240"/>
            <a:ext cx="8595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31546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3F72"/>
                </a:solidFill>
              </a:rPr>
              <a:t>🎯 Manager Capabilities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3611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➕ Add / manage rooms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3611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📋 View all reservations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0690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✅ Check-in / Check-out management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40690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📊 Real-time KPI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73F72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👥  Répartition de l'Équipe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3931920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548640"/>
          </a:xfrm>
          <a:prstGeom prst="rect">
            <a:avLst/>
          </a:prstGeom>
          <a:solidFill>
            <a:srgbClr val="818CF8"/>
          </a:solidFill>
        </p:spPr>
      </p:sp>
      <p:sp>
        <p:nvSpPr>
          <p:cNvPr id="6" name="Text 4"/>
          <p:cNvSpPr/>
          <p:nvPr/>
        </p:nvSpPr>
        <p:spPr>
          <a:xfrm>
            <a:off x="274320" y="8686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3F72"/>
                </a:solidFill>
              </a:rPr>
              <a:t>💻 IL Dev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64592" cy="164592"/>
          </a:xfrm>
          <a:prstGeom prst="ellipse">
            <a:avLst/>
          </a:prstGeom>
          <a:solidFill>
            <a:srgbClr val="818CF8"/>
          </a:solidFill>
        </p:spPr>
      </p:sp>
      <p:sp>
        <p:nvSpPr>
          <p:cNvPr id="8" name="Text 6"/>
          <p:cNvSpPr/>
          <p:nvPr/>
        </p:nvSpPr>
        <p:spPr>
          <a:xfrm>
            <a:off x="685800" y="153619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Spring Boot — REST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64592" cy="164592"/>
          </a:xfrm>
          <a:prstGeom prst="ellipse">
            <a:avLst/>
          </a:prstGeom>
          <a:solidFill>
            <a:srgbClr val="818CF8"/>
          </a:solidFill>
        </p:spPr>
      </p:sp>
      <p:sp>
        <p:nvSpPr>
          <p:cNvPr id="10" name="Text 8"/>
          <p:cNvSpPr/>
          <p:nvPr/>
        </p:nvSpPr>
        <p:spPr>
          <a:xfrm>
            <a:off x="685800" y="20848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Thymeleaf Frontend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64592" cy="164592"/>
          </a:xfrm>
          <a:prstGeom prst="ellipse">
            <a:avLst/>
          </a:prstGeom>
          <a:solidFill>
            <a:srgbClr val="818CF8"/>
          </a:solidFill>
        </p:spPr>
      </p:sp>
      <p:sp>
        <p:nvSpPr>
          <p:cNvPr id="12" name="Text 10"/>
          <p:cNvSpPr/>
          <p:nvPr/>
        </p:nvSpPr>
        <p:spPr>
          <a:xfrm>
            <a:off x="685800" y="263347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Session &amp; Security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164592" cy="164592"/>
          </a:xfrm>
          <a:prstGeom prst="ellipse">
            <a:avLst/>
          </a:prstGeom>
          <a:solidFill>
            <a:srgbClr val="818CF8"/>
          </a:solidFill>
        </p:spPr>
      </p:sp>
      <p:sp>
        <p:nvSpPr>
          <p:cNvPr id="14" name="Text 12"/>
          <p:cNvSpPr/>
          <p:nvPr/>
        </p:nvSpPr>
        <p:spPr>
          <a:xfrm>
            <a:off x="685800" y="318211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All HTML/CSS pages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164592" cy="164592"/>
          </a:xfrm>
          <a:prstGeom prst="ellipse">
            <a:avLst/>
          </a:prstGeom>
          <a:solidFill>
            <a:srgbClr val="818CF8"/>
          </a:solidFill>
        </p:spPr>
      </p:sp>
      <p:sp>
        <p:nvSpPr>
          <p:cNvPr id="16" name="Text 14"/>
          <p:cNvSpPr/>
          <p:nvPr/>
        </p:nvSpPr>
        <p:spPr>
          <a:xfrm>
            <a:off x="685800" y="373075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Database integration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868680"/>
            <a:ext cx="2743200" cy="3931920"/>
          </a:xfrm>
          <a:prstGeom prst="rect">
            <a:avLst/>
          </a:prstGeom>
          <a:solidFill>
            <a:srgbClr val="F0FDF4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868680"/>
            <a:ext cx="2743200" cy="54864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9" name="Text 17"/>
          <p:cNvSpPr/>
          <p:nvPr/>
        </p:nvSpPr>
        <p:spPr>
          <a:xfrm>
            <a:off x="3200400" y="8686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3F72"/>
                </a:solidFill>
              </a:rPr>
              <a:t>⚙️ Embarqué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83280" y="1600200"/>
            <a:ext cx="164592" cy="164592"/>
          </a:xfrm>
          <a:prstGeom prst="ellipse">
            <a:avLst/>
          </a:prstGeom>
          <a:solidFill>
            <a:srgbClr val="34D399"/>
          </a:solidFill>
        </p:spPr>
      </p:sp>
      <p:sp>
        <p:nvSpPr>
          <p:cNvPr id="21" name="Text 19"/>
          <p:cNvSpPr/>
          <p:nvPr/>
        </p:nvSpPr>
        <p:spPr>
          <a:xfrm>
            <a:off x="3611880" y="153619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IoT device simulation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2148840"/>
            <a:ext cx="164592" cy="164592"/>
          </a:xfrm>
          <a:prstGeom prst="ellipse">
            <a:avLst/>
          </a:prstGeom>
          <a:solidFill>
            <a:srgbClr val="34D399"/>
          </a:solidFill>
        </p:spPr>
      </p:sp>
      <p:sp>
        <p:nvSpPr>
          <p:cNvPr id="23" name="Text 21"/>
          <p:cNvSpPr/>
          <p:nvPr/>
        </p:nvSpPr>
        <p:spPr>
          <a:xfrm>
            <a:off x="3611880" y="20848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MQTT protocol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697480"/>
            <a:ext cx="164592" cy="164592"/>
          </a:xfrm>
          <a:prstGeom prst="ellipse">
            <a:avLst/>
          </a:prstGeom>
          <a:solidFill>
            <a:srgbClr val="34D399"/>
          </a:solidFill>
        </p:spPr>
      </p:sp>
      <p:sp>
        <p:nvSpPr>
          <p:cNvPr id="25" name="Text 23"/>
          <p:cNvSpPr/>
          <p:nvPr/>
        </p:nvSpPr>
        <p:spPr>
          <a:xfrm>
            <a:off x="3611880" y="263347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Sensor data generation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3246120"/>
            <a:ext cx="164592" cy="164592"/>
          </a:xfrm>
          <a:prstGeom prst="ellipse">
            <a:avLst/>
          </a:prstGeom>
          <a:solidFill>
            <a:srgbClr val="34D399"/>
          </a:solidFill>
        </p:spPr>
      </p:sp>
      <p:sp>
        <p:nvSpPr>
          <p:cNvPr id="27" name="Text 25"/>
          <p:cNvSpPr/>
          <p:nvPr/>
        </p:nvSpPr>
        <p:spPr>
          <a:xfrm>
            <a:off x="3611880" y="318211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Arduino / Raspberry 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3794760"/>
            <a:ext cx="164592" cy="164592"/>
          </a:xfrm>
          <a:prstGeom prst="ellipse">
            <a:avLst/>
          </a:prstGeom>
          <a:solidFill>
            <a:srgbClr val="34D399"/>
          </a:solidFill>
        </p:spPr>
      </p:sp>
      <p:sp>
        <p:nvSpPr>
          <p:cNvPr id="29" name="Text 27"/>
          <p:cNvSpPr/>
          <p:nvPr/>
        </p:nvSpPr>
        <p:spPr>
          <a:xfrm>
            <a:off x="3611880" y="373075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Real-time data feed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868680"/>
            <a:ext cx="2743200" cy="3931920"/>
          </a:xfrm>
          <a:prstGeom prst="rect">
            <a:avLst/>
          </a:prstGeom>
          <a:solidFill>
            <a:srgbClr val="FEFCE8"/>
          </a:solidFill>
          <a:ln w="19050">
            <a:solidFill>
              <a:srgbClr val="FACC1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868680"/>
            <a:ext cx="2743200" cy="548640"/>
          </a:xfrm>
          <a:prstGeom prst="rect">
            <a:avLst/>
          </a:prstGeom>
          <a:solidFill>
            <a:srgbClr val="FACC15"/>
          </a:solidFill>
        </p:spPr>
      </p:sp>
      <p:sp>
        <p:nvSpPr>
          <p:cNvPr id="32" name="Text 30"/>
          <p:cNvSpPr/>
          <p:nvPr/>
        </p:nvSpPr>
        <p:spPr>
          <a:xfrm>
            <a:off x="6126480" y="8686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3F72"/>
                </a:solidFill>
              </a:rPr>
              <a:t>📊 ADIA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9360" y="1600200"/>
            <a:ext cx="164592" cy="164592"/>
          </a:xfrm>
          <a:prstGeom prst="ellipse">
            <a:avLst/>
          </a:prstGeom>
          <a:solidFill>
            <a:srgbClr val="FACC15"/>
          </a:solidFill>
        </p:spPr>
      </p:sp>
      <p:sp>
        <p:nvSpPr>
          <p:cNvPr id="34" name="Text 32"/>
          <p:cNvSpPr/>
          <p:nvPr/>
        </p:nvSpPr>
        <p:spPr>
          <a:xfrm>
            <a:off x="6537960" y="153619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Data analytics dashboard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2148840"/>
            <a:ext cx="164592" cy="164592"/>
          </a:xfrm>
          <a:prstGeom prst="ellipse">
            <a:avLst/>
          </a:prstGeom>
          <a:solidFill>
            <a:srgbClr val="FACC15"/>
          </a:solidFill>
        </p:spPr>
      </p:sp>
      <p:sp>
        <p:nvSpPr>
          <p:cNvPr id="36" name="Text 34"/>
          <p:cNvSpPr/>
          <p:nvPr/>
        </p:nvSpPr>
        <p:spPr>
          <a:xfrm>
            <a:off x="6537960" y="20848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KPI calculation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2697480"/>
            <a:ext cx="164592" cy="164592"/>
          </a:xfrm>
          <a:prstGeom prst="ellipse">
            <a:avLst/>
          </a:prstGeom>
          <a:solidFill>
            <a:srgbClr val="FACC15"/>
          </a:solidFill>
        </p:spPr>
      </p:sp>
      <p:sp>
        <p:nvSpPr>
          <p:cNvPr id="38" name="Text 36"/>
          <p:cNvSpPr/>
          <p:nvPr/>
        </p:nvSpPr>
        <p:spPr>
          <a:xfrm>
            <a:off x="6537960" y="263347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Sensor data analysis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246120"/>
            <a:ext cx="164592" cy="164592"/>
          </a:xfrm>
          <a:prstGeom prst="ellipse">
            <a:avLst/>
          </a:prstGeom>
          <a:solidFill>
            <a:srgbClr val="FACC15"/>
          </a:solidFill>
        </p:spPr>
      </p:sp>
      <p:sp>
        <p:nvSpPr>
          <p:cNvPr id="40" name="Text 38"/>
          <p:cNvSpPr/>
          <p:nvPr/>
        </p:nvSpPr>
        <p:spPr>
          <a:xfrm>
            <a:off x="6537960" y="318211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Revenue predictions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3794760"/>
            <a:ext cx="164592" cy="164592"/>
          </a:xfrm>
          <a:prstGeom prst="ellipse">
            <a:avLst/>
          </a:prstGeom>
          <a:solidFill>
            <a:srgbClr val="FACC15"/>
          </a:solidFill>
        </p:spPr>
      </p:sp>
      <p:sp>
        <p:nvSpPr>
          <p:cNvPr id="42" name="Text 40"/>
          <p:cNvSpPr/>
          <p:nvPr/>
        </p:nvSpPr>
        <p:spPr>
          <a:xfrm>
            <a:off x="6537960" y="373075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Occupancy reports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73F72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🖥️  Aperçu des Interfaces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365760" y="86868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🏨 Smart Hotel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371600"/>
            <a:ext cx="914400" cy="914400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37160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🔐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</a:rPr>
              <a:t>Login Page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Authentification sécurisée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avec sélection de rôle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3" name="Text 11"/>
          <p:cNvSpPr/>
          <p:nvPr/>
        </p:nvSpPr>
        <p:spPr>
          <a:xfrm>
            <a:off x="4846320" y="86868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🏨 Smart Hotel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914400" cy="914400"/>
          </a:xfrm>
          <a:prstGeom prst="ellipse">
            <a:avLst/>
          </a:prstGeom>
          <a:solidFill>
            <a:srgbClr val="059669">
              <a:alpha val="85000"/>
            </a:srgbClr>
          </a:solidFill>
          <a:ln w="12700">
            <a:solidFill>
              <a:srgbClr val="059669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37160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🛏️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754880" y="22860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</a:rPr>
              <a:t>Rooms Page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5146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Filtres avancés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&amp; rating des chambres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4114800" cy="34747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0" name="Text 18"/>
          <p:cNvSpPr/>
          <p:nvPr/>
        </p:nvSpPr>
        <p:spPr>
          <a:xfrm>
            <a:off x="365760" y="29718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🏨 Smart Hotel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3474720"/>
            <a:ext cx="914400" cy="91440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347472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⚙️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274320" y="43891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IoT Control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6177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Contrôle temps réel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des appareils connectés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7" name="Text 25"/>
          <p:cNvSpPr/>
          <p:nvPr/>
        </p:nvSpPr>
        <p:spPr>
          <a:xfrm>
            <a:off x="4846320" y="29718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🏨 Smart Hotel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3474720"/>
            <a:ext cx="914400" cy="914400"/>
          </a:xfrm>
          <a:prstGeom prst="ellipse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47472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4754880" y="43891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Dashboard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6177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KPIs Manager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&amp; revenue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73F72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🎯  Résultats &amp; Impact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463040"/>
          </a:xfrm>
          <a:prstGeom prst="rect">
            <a:avLst/>
          </a:prstGeom>
          <a:solidFill>
            <a:srgbClr val="F4F6F9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B82F6"/>
                </a:solidFill>
              </a:rPr>
              <a:t>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02C"/>
                </a:solidFill>
              </a:rPr>
              <a:t>Modules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PMS · IoT · RMS · Auth · Profile · Dashboard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743200" cy="1463040"/>
          </a:xfrm>
          <a:prstGeom prst="rect">
            <a:avLst/>
          </a:prstGeom>
          <a:solidFill>
            <a:srgbClr val="F4F6F9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91440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7C3AED"/>
                </a:solidFill>
              </a:rPr>
              <a:t>11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00400" y="1645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02C"/>
                </a:solidFill>
              </a:rPr>
              <a:t>Pages HTML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Login · Register · Rooms · Reservation · IoT · Dashboard...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743200" cy="1463040"/>
          </a:xfrm>
          <a:prstGeom prst="rect">
            <a:avLst/>
          </a:prstGeom>
          <a:solidFill>
            <a:srgbClr val="F4F6F9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91440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59669"/>
                </a:solidFill>
              </a:rPr>
              <a:t>100%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126480" y="1645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02C"/>
                </a:solidFill>
              </a:rPr>
              <a:t>Sécurisé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Session · Role-based access control · Protection routes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8595360" cy="2286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F72"/>
                </a:solidFill>
              </a:rPr>
              <a:t>✅ Fonctionnalités Livrées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090672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✅ Authentification complète (Register/Login/Logout)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090672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✅ Gestion des réservations avec calcul automatique du prix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11296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✅ Check-in / Check-out avec protection par rôle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511296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✅ Contrôle IoT des appareils (6 types de devices)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✅ Dashboard Manager avec KPIs en temps réel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93192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✅ Profil Guest avec historique des séjours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352544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✅ Filtres avancés (type, prix, rating, statut)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4352544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✅ Sécurité : Session interceptor &amp; role-based access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A5CA8">
              <a:alpha val="30000"/>
            </a:srgbClr>
          </a:solidFill>
          <a:ln w="12700">
            <a:solidFill>
              <a:srgbClr val="0A5CA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ACC15"/>
          </a:solidFill>
        </p:spPr>
      </p:sp>
      <p:sp>
        <p:nvSpPr>
          <p:cNvPr id="5" name="Text 3"/>
          <p:cNvSpPr/>
          <p:nvPr/>
        </p:nvSpPr>
        <p:spPr>
          <a:xfrm>
            <a:off x="365760" y="365760"/>
            <a:ext cx="1097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🎉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Merci pour votre attention !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ACC15"/>
                </a:solidFill>
              </a:rPr>
              <a:t>Smart Hotel System — Une solution complète pour l'hôtellerie intelligente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3657600" cy="36576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9" name="Text 7"/>
          <p:cNvSpPr/>
          <p:nvPr/>
        </p:nvSpPr>
        <p:spPr>
          <a:xfrm>
            <a:off x="365760" y="29260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📍 Agadir, Maroc  |  </a:t>
            </a:r>
            <a:r>
              <a:rPr lang="en-US" sz="1200" dirty="0">
                <a:solidFill>
                  <a:srgbClr val="94A3B8"/>
                </a:solidFill>
              </a:rPr>
              <a:t>Module : Culture Entrepreneuriale  |  </a:t>
            </a:r>
            <a:r>
              <a:rPr lang="en-US" sz="1200" dirty="0">
                <a:solidFill>
                  <a:srgbClr val="38BDF8"/>
                </a:solidFill>
              </a:rPr>
              <a:t>Écosystème Souss-Massa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1148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114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</a:rPr>
              <a:t>💻 IL Dev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41148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4114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⚙️ Embarqué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41148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4114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CC15"/>
                </a:solidFill>
              </a:rPr>
              <a:t>📊 ADIA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3870</Words>
  <Application>WPS Presentation</Application>
  <PresentationFormat>On-screen Show (16:9)</PresentationFormat>
  <Paragraphs>484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Hotel System</dc:title>
  <dc:creator>PptxGenJS</dc:creator>
  <dc:subject>PptxGenJS Presentation</dc:subject>
  <cp:lastModifiedBy>pc</cp:lastModifiedBy>
  <cp:revision>2</cp:revision>
  <dcterms:created xsi:type="dcterms:W3CDTF">2026-04-13T08:25:00Z</dcterms:created>
  <dcterms:modified xsi:type="dcterms:W3CDTF">2026-04-25T17:36:50Z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69D36B9D93DB4DF6B17072D8740BC3C8_12</vt:lpwstr>
  </property>
  <property fmtid="{D5CDD505-2E9C-101B-9397-08002B2CF9AE}" pid="3" name="KSOProductBuildVer">
    <vt:lpwstr>3084-12.2.0.23202</vt:lpwstr>
  </property>
</Properties>
</file>